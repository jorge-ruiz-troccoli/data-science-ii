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325" r:id="rId2"/>
    <p:sldId id="334" r:id="rId3"/>
    <p:sldId id="326" r:id="rId4"/>
    <p:sldId id="327" r:id="rId5"/>
    <p:sldId id="329" r:id="rId6"/>
    <p:sldId id="332" r:id="rId7"/>
  </p:sldIdLst>
  <p:sldSz cx="9144000" cy="5143500" type="screen16x9"/>
  <p:notesSz cx="6858000" cy="9144000"/>
  <p:embeddedFontLst>
    <p:embeddedFont>
      <p:font typeface="DM Sans" pitchFamily="2" charset="0"/>
      <p:regular r:id="rId9"/>
      <p:bold r:id="rId10"/>
      <p:italic r:id="rId11"/>
      <p:boldItalic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27">
          <p15:clr>
            <a:srgbClr val="A4A3A4"/>
          </p15:clr>
        </p15:guide>
        <p15:guide id="3" pos="299">
          <p15:clr>
            <a:srgbClr val="9AA0A6"/>
          </p15:clr>
        </p15:guide>
        <p15:guide id="4" orient="horz" pos="2835">
          <p15:clr>
            <a:srgbClr val="9AA0A6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8" roundtripDataSignature="AMtx7mhWkMwjjh+53f1NKYkjfriF4PbH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949841-67A1-447B-B8D6-1C40DA0655A1}">
  <a:tblStyle styleId="{2D949841-67A1-447B-B8D6-1C40DA0655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21212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4E49CC1-8997-4E89-A31F-99F6BE0197A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95"/>
        <p:guide pos="5427"/>
        <p:guide pos="299"/>
        <p:guide orient="horz"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90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8be4191c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8be4191c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185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aa0dd839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g2aa0dd839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167918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ddc659e8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ddc659e8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ddc659e8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2bddc659e8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4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7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8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8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8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8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Google Shape;63;p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9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805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Proyecto final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/>
        </p:nvSpPr>
        <p:spPr>
          <a:xfrm>
            <a:off x="400413" y="2807419"/>
            <a:ext cx="1460400" cy="652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Entendimiento de negocio</a:t>
            </a:r>
            <a:endParaRPr sz="1100"/>
          </a:p>
        </p:txBody>
      </p:sp>
      <p:sp>
        <p:nvSpPr>
          <p:cNvPr id="89" name="Google Shape;89;p25"/>
          <p:cNvSpPr/>
          <p:nvPr/>
        </p:nvSpPr>
        <p:spPr>
          <a:xfrm>
            <a:off x="2121106" y="2168255"/>
            <a:ext cx="1460400" cy="652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Adquisición de datos y entendimiento</a:t>
            </a:r>
            <a:endParaRPr sz="1100"/>
          </a:p>
        </p:txBody>
      </p:sp>
      <p:sp>
        <p:nvSpPr>
          <p:cNvPr id="90" name="Google Shape;90;p25"/>
          <p:cNvSpPr/>
          <p:nvPr/>
        </p:nvSpPr>
        <p:spPr>
          <a:xfrm>
            <a:off x="3841800" y="1529091"/>
            <a:ext cx="1460400" cy="652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Preprocesamiento y enriquecimiento</a:t>
            </a:r>
            <a:endParaRPr sz="1100"/>
          </a:p>
        </p:txBody>
      </p:sp>
      <p:sp>
        <p:nvSpPr>
          <p:cNvPr id="91" name="Google Shape;91;p25"/>
          <p:cNvSpPr txBox="1"/>
          <p:nvPr/>
        </p:nvSpPr>
        <p:spPr>
          <a:xfrm>
            <a:off x="426500" y="3459300"/>
            <a:ext cx="15300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/>
              <a:t>Definición del proyecto:</a:t>
            </a:r>
            <a:endParaRPr sz="800" b="1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Objetivo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Alcance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Resultados esperados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Métricas de negocio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Antecedentes previos (modelos)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Unidad de observación</a:t>
            </a:r>
            <a:endParaRPr sz="800"/>
          </a:p>
        </p:txBody>
      </p:sp>
      <p:sp>
        <p:nvSpPr>
          <p:cNvPr id="92" name="Google Shape;92;p25"/>
          <p:cNvSpPr txBox="1"/>
          <p:nvPr/>
        </p:nvSpPr>
        <p:spPr>
          <a:xfrm>
            <a:off x="3806550" y="2507126"/>
            <a:ext cx="1530000" cy="22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/>
              <a:t>Preprocesamiento:</a:t>
            </a:r>
            <a:endParaRPr sz="800" b="1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Tipos de datos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Ausentes o NaN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Atípicos u outliers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Coherencia de los datos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Reducción de dimensionalidad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/>
              <a:t>Enriquecimiento (feature engineering)</a:t>
            </a:r>
            <a:endParaRPr sz="800" b="1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Variables de tiempo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Variables categóricas (one hot enconding, label enconding, frecuency enconding, etc.)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Categorización de variables continuas o Binning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Cálculo de nuevas variables o índices</a:t>
            </a:r>
            <a:endParaRPr sz="800"/>
          </a:p>
        </p:txBody>
      </p:sp>
      <p:sp>
        <p:nvSpPr>
          <p:cNvPr id="93" name="Google Shape;93;p25"/>
          <p:cNvSpPr/>
          <p:nvPr/>
        </p:nvSpPr>
        <p:spPr>
          <a:xfrm>
            <a:off x="5562494" y="889927"/>
            <a:ext cx="1460400" cy="652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Modelado y evaluación</a:t>
            </a:r>
            <a:endParaRPr sz="1100"/>
          </a:p>
        </p:txBody>
      </p:sp>
      <p:sp>
        <p:nvSpPr>
          <p:cNvPr id="94" name="Google Shape;94;p25"/>
          <p:cNvSpPr txBox="1"/>
          <p:nvPr/>
        </p:nvSpPr>
        <p:spPr>
          <a:xfrm>
            <a:off x="5562500" y="1801350"/>
            <a:ext cx="1530000" cy="1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/>
              <a:t>Modelado</a:t>
            </a:r>
            <a:endParaRPr sz="800" b="1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Selección de variables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Selección de métricas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Selección de modelos</a:t>
            </a:r>
            <a:endParaRPr sz="80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/>
              <a:t>Afinamiento de hiperparametros (tuning)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rgbClr val="000000"/>
                </a:solidFill>
              </a:rPr>
              <a:t>Evaluación:</a:t>
            </a:r>
            <a:endParaRPr sz="800" b="1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Validación cruzada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Evaluación integral</a:t>
            </a:r>
            <a:endParaRPr sz="800"/>
          </a:p>
        </p:txBody>
      </p:sp>
      <p:sp>
        <p:nvSpPr>
          <p:cNvPr id="95" name="Google Shape;95;p25"/>
          <p:cNvSpPr/>
          <p:nvPr/>
        </p:nvSpPr>
        <p:spPr>
          <a:xfrm>
            <a:off x="7283188" y="250763"/>
            <a:ext cx="1460400" cy="6528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Despliegue</a:t>
            </a:r>
            <a:endParaRPr sz="1100"/>
          </a:p>
        </p:txBody>
      </p:sp>
      <p:sp>
        <p:nvSpPr>
          <p:cNvPr id="96" name="Google Shape;96;p25"/>
          <p:cNvSpPr txBox="1"/>
          <p:nvPr/>
        </p:nvSpPr>
        <p:spPr>
          <a:xfrm>
            <a:off x="7248400" y="1153325"/>
            <a:ext cx="1530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 dirty="0"/>
              <a:t>Despliegue:</a:t>
            </a:r>
            <a:endParaRPr sz="800" b="1" dirty="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 dirty="0"/>
              <a:t>Seguimiento</a:t>
            </a:r>
            <a:endParaRPr sz="800" dirty="0"/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s" sz="800" dirty="0"/>
              <a:t>Mantenimiento y recalibración</a:t>
            </a:r>
            <a:endParaRPr sz="800" dirty="0"/>
          </a:p>
        </p:txBody>
      </p:sp>
      <p:sp>
        <p:nvSpPr>
          <p:cNvPr id="97" name="Google Shape;97;p25"/>
          <p:cNvSpPr txBox="1"/>
          <p:nvPr/>
        </p:nvSpPr>
        <p:spPr>
          <a:xfrm>
            <a:off x="2085851" y="3111144"/>
            <a:ext cx="1530900" cy="17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rgbClr val="000000"/>
                </a:solidFill>
              </a:rPr>
              <a:t>Adquisición:</a:t>
            </a:r>
            <a:endParaRPr sz="800" b="1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Base de datos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Tipo de datos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Variables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Merge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Agrupaciones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rgbClr val="000000"/>
                </a:solidFill>
              </a:rPr>
              <a:t>Exploración de datos:</a:t>
            </a:r>
            <a:endParaRPr sz="800" b="1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Descriptivo univariado (tendencia central, varianza, asimetría)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Descriptivo multivariado (correlación, dispersión)</a:t>
            </a:r>
            <a:endParaRPr sz="800">
              <a:solidFill>
                <a:srgbClr val="000000"/>
              </a:solidFill>
            </a:endParaRPr>
          </a:p>
          <a:p>
            <a:pPr marL="179999" lvl="0" indent="-140799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-"/>
            </a:pPr>
            <a:r>
              <a:rPr lang="es" sz="800">
                <a:solidFill>
                  <a:srgbClr val="000000"/>
                </a:solidFill>
              </a:rPr>
              <a:t>Aprendizajes o Insights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98" name="Google Shape;98;p25"/>
          <p:cNvSpPr/>
          <p:nvPr/>
        </p:nvSpPr>
        <p:spPr>
          <a:xfrm>
            <a:off x="1751100" y="2423100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5"/>
          <p:cNvSpPr/>
          <p:nvPr/>
        </p:nvSpPr>
        <p:spPr>
          <a:xfrm rot="10800000">
            <a:off x="1916425" y="2872725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/>
          <p:nvPr/>
        </p:nvSpPr>
        <p:spPr>
          <a:xfrm>
            <a:off x="3480150" y="1792300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5"/>
          <p:cNvSpPr/>
          <p:nvPr/>
        </p:nvSpPr>
        <p:spPr>
          <a:xfrm rot="10800000">
            <a:off x="3645475" y="2241925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5"/>
          <p:cNvSpPr/>
          <p:nvPr/>
        </p:nvSpPr>
        <p:spPr>
          <a:xfrm>
            <a:off x="5196273" y="1152613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5"/>
          <p:cNvSpPr/>
          <p:nvPr/>
        </p:nvSpPr>
        <p:spPr>
          <a:xfrm rot="10800000">
            <a:off x="5361598" y="1602238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5"/>
          <p:cNvSpPr/>
          <p:nvPr/>
        </p:nvSpPr>
        <p:spPr>
          <a:xfrm>
            <a:off x="6931800" y="503725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5"/>
          <p:cNvSpPr/>
          <p:nvPr/>
        </p:nvSpPr>
        <p:spPr>
          <a:xfrm rot="10800000">
            <a:off x="7097125" y="953350"/>
            <a:ext cx="295800" cy="2973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484" y="250775"/>
            <a:ext cx="1076715" cy="57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2500" y="903575"/>
            <a:ext cx="1238103" cy="5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2550" y="401500"/>
            <a:ext cx="1288056" cy="57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8100" y="1508475"/>
            <a:ext cx="1216200" cy="6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1900" y="1299625"/>
            <a:ext cx="1288049" cy="3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/>
          <p:nvPr/>
        </p:nvSpPr>
        <p:spPr>
          <a:xfrm>
            <a:off x="2206200" y="856025"/>
            <a:ext cx="1216200" cy="2973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A4C2F4"/>
                </a:solidFill>
                <a:latin typeface="Arial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70595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1"/>
          <p:cNvSpPr/>
          <p:nvPr/>
        </p:nvSpPr>
        <p:spPr>
          <a:xfrm>
            <a:off x="4202558" y="994173"/>
            <a:ext cx="738900" cy="7389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4" name="Google Shape;774;p121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559" y="1149263"/>
            <a:ext cx="428721" cy="4287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121"/>
          <p:cNvSpPr txBox="1"/>
          <p:nvPr/>
        </p:nvSpPr>
        <p:spPr>
          <a:xfrm>
            <a:off x="1334800" y="1941250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0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Final</a:t>
            </a: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7" name="Google Shape;777;p121"/>
          <p:cNvSpPr/>
          <p:nvPr/>
        </p:nvSpPr>
        <p:spPr>
          <a:xfrm>
            <a:off x="4697800" y="821750"/>
            <a:ext cx="381900" cy="38190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3545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41"/>
          <p:cNvGrpSpPr/>
          <p:nvPr/>
        </p:nvGrpSpPr>
        <p:grpSpPr>
          <a:xfrm>
            <a:off x="4202551" y="905623"/>
            <a:ext cx="738900" cy="738900"/>
            <a:chOff x="7208351" y="2467173"/>
            <a:chExt cx="738900" cy="738900"/>
          </a:xfrm>
        </p:grpSpPr>
        <p:sp>
          <p:nvSpPr>
            <p:cNvPr id="227" name="Google Shape;227;p41"/>
            <p:cNvSpPr/>
            <p:nvPr/>
          </p:nvSpPr>
          <p:spPr>
            <a:xfrm>
              <a:off x="7208351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8" name="Google Shape;228;p41" title="ícono de proyecto final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52500" y="2611301"/>
              <a:ext cx="450600" cy="4506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41"/>
          <p:cNvSpPr txBox="1"/>
          <p:nvPr/>
        </p:nvSpPr>
        <p:spPr>
          <a:xfrm>
            <a:off x="1461300" y="1784888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Final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tu Proyecto </a:t>
            </a:r>
            <a:endParaRPr sz="4000"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41"/>
          <p:cNvSpPr txBox="1"/>
          <p:nvPr/>
        </p:nvSpPr>
        <p:spPr>
          <a:xfrm>
            <a:off x="987300" y="3077875"/>
            <a:ext cx="71694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Entrenarás y optimizarás diversos modelos de machine learning para resolver una problemática específica. El objetivo es que puedas utilizar modelos de ML para resolver el problema de una industria o negocio</a:t>
            </a:r>
            <a:endParaRPr sz="16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43"/>
          <p:cNvGrpSpPr/>
          <p:nvPr/>
        </p:nvGrpSpPr>
        <p:grpSpPr>
          <a:xfrm>
            <a:off x="457362" y="468299"/>
            <a:ext cx="431074" cy="431074"/>
            <a:chOff x="7208351" y="2467173"/>
            <a:chExt cx="738900" cy="738900"/>
          </a:xfrm>
        </p:grpSpPr>
        <p:sp>
          <p:nvSpPr>
            <p:cNvPr id="248" name="Google Shape;248;p43"/>
            <p:cNvSpPr/>
            <p:nvPr/>
          </p:nvSpPr>
          <p:spPr>
            <a:xfrm>
              <a:off x="7208351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9" name="Google Shape;249;p43" title="ícono de entrega fina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52500" y="2611301"/>
              <a:ext cx="450600" cy="4506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0" name="Google Shape;250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3"/>
          <p:cNvSpPr txBox="1"/>
          <p:nvPr/>
        </p:nvSpPr>
        <p:spPr>
          <a:xfrm>
            <a:off x="957300" y="197813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DEL PROYECTO FINAL</a:t>
            </a:r>
            <a:endParaRPr sz="14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43"/>
          <p:cNvSpPr txBox="1"/>
          <p:nvPr/>
        </p:nvSpPr>
        <p:spPr>
          <a:xfrm>
            <a:off x="457350" y="1749900"/>
            <a:ext cx="7956900" cy="2557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Requisitos base</a:t>
            </a:r>
            <a:endParaRPr sz="1350" b="1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89D2"/>
              </a:buClr>
              <a:buSzPts val="1350"/>
              <a:buFont typeface="DM Sans"/>
              <a:buChar char="✓"/>
            </a:pP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Un Notebook (Colab o Jupyter) que debe contener: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Abstracto con motivación y audiencia:  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Descripción de alto nivel de lo que motiva a analizar los datos elegidos y audiencia que se podría beneficiar de este análisis.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Preguntas/Problema que buscamos resolver: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Si bien puede haber más de una problemática a resolver, la problemática principal debe encuadrarse como un problema de clasificación o regresión.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Breve Análisis Exploratorio de Datos (EDA): 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Análisis descriptivo de los datos mediante visualizaciones y herramientas estadísticas, análisis de valores faltantes.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Ingeniería de atributos: 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Creación de nuevas variables, transformación de variables existentes (i.e normalización de variables, encoding, etc.)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Entrenamiento y Testeo: 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Entrenamiento y testeo de al menos 2 modelos distintos de Machine Learning vistos en en este curso y no en el primero, además utilizando algún método de validación cruzada.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Optimización: 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Utilizar alguna técnica de optimización de hiperparámetros (e.g gridsearch halving, etc.)</a:t>
            </a:r>
            <a:endParaRPr sz="100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DM Sans"/>
              <a:buAutoNum type="arabicPeriod"/>
            </a:pPr>
            <a:r>
              <a:rPr lang="es" sz="1000" b="1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Selección de modelos:</a:t>
            </a:r>
            <a:r>
              <a:rPr lang="es" sz="1000" b="0" i="0" u="none" strike="noStrike" cap="none" dirty="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utilizar las métricas apropiadas para la selección del mejor modelo (e.g RECALL, RMSE, etc.)</a:t>
            </a:r>
            <a:endParaRPr sz="1350" b="0" i="0" u="none" strike="noStrike" cap="none" dirty="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4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3"/>
          <p:cNvSpPr txBox="1"/>
          <p:nvPr/>
        </p:nvSpPr>
        <p:spPr>
          <a:xfrm>
            <a:off x="501450" y="899375"/>
            <a:ext cx="731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Entrenamiento y optimización de modelos de Machine Learning</a:t>
            </a:r>
            <a:endParaRPr sz="3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82"/>
            <a:ext cx="6095172" cy="421168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974" y="1206776"/>
            <a:ext cx="2975941" cy="297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9795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434</Words>
  <Application>Microsoft Office PowerPoint</Application>
  <PresentationFormat>Presentación en pantalla (16:9)</PresentationFormat>
  <Paragraphs>67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Helvetica Neue</vt:lpstr>
      <vt:lpstr>DM Sans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Ruiz</dc:creator>
  <cp:lastModifiedBy>Jorge Ruiz</cp:lastModifiedBy>
  <cp:revision>6</cp:revision>
  <dcterms:modified xsi:type="dcterms:W3CDTF">2026-05-11T16:56:51Z</dcterms:modified>
</cp:coreProperties>
</file>