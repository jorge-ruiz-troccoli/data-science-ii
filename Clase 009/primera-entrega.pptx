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305" r:id="rId3"/>
    <p:sldId id="309" r:id="rId4"/>
    <p:sldId id="310" r:id="rId5"/>
    <p:sldId id="314" r:id="rId6"/>
    <p:sldId id="315" r:id="rId7"/>
    <p:sldId id="297" r:id="rId8"/>
    <p:sldId id="300" r:id="rId9"/>
    <p:sldId id="301" r:id="rId10"/>
    <p:sldId id="302" r:id="rId11"/>
  </p:sldIdLst>
  <p:sldSz cx="9144000" cy="5143500" type="screen16x9"/>
  <p:notesSz cx="6858000" cy="9144000"/>
  <p:embeddedFontLst>
    <p:embeddedFont>
      <p:font typeface="DM Sans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5">
          <p15:clr>
            <a:srgbClr val="A4A3A4"/>
          </p15:clr>
        </p15:guide>
        <p15:guide id="2" pos="5427">
          <p15:clr>
            <a:srgbClr val="A4A3A4"/>
          </p15:clr>
        </p15:guide>
        <p15:guide id="3" pos="299">
          <p15:clr>
            <a:srgbClr val="9AA0A6"/>
          </p15:clr>
        </p15:guide>
        <p15:guide id="4" orient="horz" pos="2891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6" roundtripDataSignature="AMtx7mjEYuPg8+A87MnvsxHFQlL6Xkv9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295"/>
        <p:guide pos="5427"/>
        <p:guide pos="299"/>
        <p:guide orient="horz" pos="289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6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6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bdd1d7aa3d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bdd1d7aa3d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aa0dd8394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6" name="Google Shape;796;g2aa0dd8394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777320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aa0dd8394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6" name="Google Shape;796;g2aa0dd8394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502935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aa0dd8394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6" name="Google Shape;796;g2aa0dd8394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856693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bdd1d7aa3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g2bdd1d7aa3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7" name="Google Shape;477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1" name="Google Shape;501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6" name="Google Shape;506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1" name="Google Shape;511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 1 1">
  <p:cSld name="SECTION_HEADER_1_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50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5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3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5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1" name="Google Shape;41;p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6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" name="Google Shape;50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" name="Google Shape;56;p6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7" name="Google Shape;57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0" name="Google Shape;60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4" name="Google Shape;64;p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5" name="Google Shape;65;p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9" name="Google Shape;69;p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2" name="Google Shape;72;p7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5">
  <p:cSld name="SECTION_HEADER_1_1_1_1_1_1_1_1_1_10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7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75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1">
  <p:cSld name="SECTION_HEADER_1_1_1_1_1_1_1_1_1_1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7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 3">
  <p:cSld name="SECTION_HEADER_1_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77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681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3080700" y="2547525"/>
            <a:ext cx="2982600" cy="793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461300" y="1802163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 va a ser</a:t>
            </a:r>
            <a:endParaRPr sz="4000" b="1" i="0" u="none" strike="noStrike" cap="non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655975" y="2541075"/>
            <a:ext cx="240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grabada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3293875" y="2844525"/>
            <a:ext cx="199800" cy="199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72"/>
          <p:cNvGrpSpPr/>
          <p:nvPr/>
        </p:nvGrpSpPr>
        <p:grpSpPr>
          <a:xfrm>
            <a:off x="4202551" y="905623"/>
            <a:ext cx="738900" cy="738900"/>
            <a:chOff x="7208351" y="2467173"/>
            <a:chExt cx="738900" cy="738900"/>
          </a:xfrm>
        </p:grpSpPr>
        <p:sp>
          <p:nvSpPr>
            <p:cNvPr id="405" name="Google Shape;405;p72"/>
            <p:cNvSpPr/>
            <p:nvPr/>
          </p:nvSpPr>
          <p:spPr>
            <a:xfrm>
              <a:off x="7208351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06" name="Google Shape;406;p72" title="ícono de proyecto final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52500" y="2611301"/>
              <a:ext cx="450600" cy="4506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7" name="Google Shape;407;p72"/>
          <p:cNvSpPr txBox="1"/>
          <p:nvPr/>
        </p:nvSpPr>
        <p:spPr>
          <a:xfrm>
            <a:off x="1461300" y="1784888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Primera preentrega </a:t>
            </a:r>
            <a:endParaRPr sz="4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tu Proyecto final</a:t>
            </a:r>
            <a:endParaRPr sz="4000" b="1" dirty="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8" name="Google Shape;408;p72"/>
          <p:cNvSpPr txBox="1"/>
          <p:nvPr/>
        </p:nvSpPr>
        <p:spPr>
          <a:xfrm>
            <a:off x="987300" y="3077875"/>
            <a:ext cx="7169400" cy="153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s-ES" sz="1600" dirty="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Antes de pasar al proceso de ML, es fundamental realizar una serie de etapas previas que sientan las bases para un análisis y modelado efectivo. Por lo tanto, se pide lo siguiente:</a:t>
            </a:r>
            <a:endParaRPr sz="16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23"/>
          <p:cNvSpPr/>
          <p:nvPr/>
        </p:nvSpPr>
        <p:spPr>
          <a:xfrm>
            <a:off x="457346" y="468198"/>
            <a:ext cx="431100" cy="431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9" name="Google Shape;799;p123" title="ícono de desafío entregab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3106" y="558677"/>
            <a:ext cx="250116" cy="250118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123"/>
          <p:cNvSpPr txBox="1"/>
          <p:nvPr/>
        </p:nvSpPr>
        <p:spPr>
          <a:xfrm>
            <a:off x="457346" y="1995760"/>
            <a:ext cx="8694661" cy="2315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Consigna</a:t>
            </a:r>
            <a:endParaRPr sz="1350" b="1" i="0" u="none" strike="noStrike" cap="none" dirty="0">
              <a:solidFill>
                <a:srgbClr val="000000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142875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</a:pPr>
            <a:r>
              <a:rPr lang="es" sz="135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Crearás un notebook que debe contener como mínimo lo siguiente: </a:t>
            </a:r>
          </a:p>
          <a:p>
            <a:pPr marL="142875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</a:pPr>
            <a:endParaRPr lang="es" sz="1350" b="0" i="0" u="none" strike="noStrike" cap="none" dirty="0">
              <a:solidFill>
                <a:schemeClr val="tx1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fontAlgn="base"/>
            <a:r>
              <a:rPr lang="es-ES" b="1" i="1" u="sng" dirty="0">
                <a:latin typeface="+mn-lt"/>
              </a:rPr>
              <a:t>Resumen </a:t>
            </a:r>
            <a:r>
              <a:rPr lang="es-ES" dirty="0">
                <a:latin typeface="+mn-lt"/>
              </a:rPr>
              <a:t>– </a:t>
            </a:r>
            <a:r>
              <a:rPr lang="es-ES" dirty="0"/>
              <a:t>Una breve descripción donde menciona el </a:t>
            </a:r>
            <a:r>
              <a:rPr lang="es-AR" dirty="0"/>
              <a:t>contenido principal, </a:t>
            </a:r>
            <a:r>
              <a:rPr lang="es-ES" dirty="0"/>
              <a:t>los hallazgos clave del trabajo de manera concisa y precisa.</a:t>
            </a:r>
          </a:p>
          <a:p>
            <a:pPr fontAlgn="base"/>
            <a:endParaRPr lang="es-ES" dirty="0">
              <a:latin typeface="+mn-lt"/>
            </a:endParaRPr>
          </a:p>
          <a:p>
            <a:pPr fontAlgn="base"/>
            <a:r>
              <a:rPr lang="es-ES" b="1" i="1" u="sng" dirty="0">
                <a:latin typeface="+mn-lt"/>
              </a:rPr>
              <a:t>Objetivo</a:t>
            </a:r>
            <a:r>
              <a:rPr lang="es-ES" dirty="0">
                <a:latin typeface="+mn-lt"/>
              </a:rPr>
              <a:t> - Determinar qué es lo que desean resolver.</a:t>
            </a:r>
          </a:p>
          <a:p>
            <a:pPr fontAlgn="base"/>
            <a:endParaRPr lang="es-ES" dirty="0">
              <a:latin typeface="+mn-lt"/>
            </a:endParaRPr>
          </a:p>
          <a:p>
            <a:pPr fontAlgn="base"/>
            <a:r>
              <a:rPr lang="es-ES" b="1" i="1" u="sng" dirty="0">
                <a:latin typeface="+mn-lt"/>
              </a:rPr>
              <a:t>Contexto comercial</a:t>
            </a:r>
            <a:r>
              <a:rPr lang="es-ES" dirty="0">
                <a:latin typeface="+mn-lt"/>
              </a:rPr>
              <a:t> - Información acerca de  la empresa y posición en base al motivo del objetivo,  en este caso puede ser imaginativo.</a:t>
            </a:r>
          </a:p>
        </p:txBody>
      </p:sp>
      <p:sp>
        <p:nvSpPr>
          <p:cNvPr id="801" name="Google Shape;801;p123"/>
          <p:cNvSpPr txBox="1"/>
          <p:nvPr/>
        </p:nvSpPr>
        <p:spPr>
          <a:xfrm>
            <a:off x="-35661" y="929155"/>
            <a:ext cx="8708811" cy="118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</a:pPr>
            <a:r>
              <a:rPr lang="es-AR" sz="36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Primera </a:t>
            </a:r>
            <a:r>
              <a:rPr lang="es-AR" sz="3600" b="1" dirty="0" err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preentrega</a:t>
            </a:r>
            <a:r>
              <a:rPr lang="es-AR" sz="36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lvl="0" algn="ctr">
              <a:lnSpc>
                <a:spcPct val="90000"/>
              </a:lnSpc>
            </a:pPr>
            <a:r>
              <a:rPr lang="es-AR" sz="36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tu Proyecto final</a:t>
            </a:r>
            <a:endParaRPr lang="es-AR" sz="3600" b="1" dirty="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02" name="Google Shape;802;p1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123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PRÁCTICA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4" name="Google Shape;804;p123"/>
          <p:cNvSpPr txBox="1"/>
          <p:nvPr/>
        </p:nvSpPr>
        <p:spPr>
          <a:xfrm>
            <a:off x="4527575" y="1603375"/>
            <a:ext cx="4145700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5" name="Google Shape;805;p123"/>
          <p:cNvSpPr/>
          <p:nvPr/>
        </p:nvSpPr>
        <p:spPr>
          <a:xfrm>
            <a:off x="636450" y="838675"/>
            <a:ext cx="8036700" cy="6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6359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23"/>
          <p:cNvSpPr/>
          <p:nvPr/>
        </p:nvSpPr>
        <p:spPr>
          <a:xfrm>
            <a:off x="457346" y="468198"/>
            <a:ext cx="431100" cy="431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9" name="Google Shape;799;p123" title="ícono de desafío entregab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3106" y="558677"/>
            <a:ext cx="250116" cy="250118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123"/>
          <p:cNvSpPr txBox="1"/>
          <p:nvPr/>
        </p:nvSpPr>
        <p:spPr>
          <a:xfrm>
            <a:off x="457346" y="1617935"/>
            <a:ext cx="8694661" cy="327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 lang="es-ES" b="1" dirty="0"/>
          </a:p>
          <a:p>
            <a:r>
              <a:rPr lang="es-ES" b="1" i="1" u="sng" dirty="0">
                <a:latin typeface="+mn-lt"/>
              </a:rPr>
              <a:t>Hipótesis</a:t>
            </a:r>
            <a:r>
              <a:rPr lang="es-ES" i="1" u="sng" dirty="0">
                <a:latin typeface="+mn-lt"/>
              </a:rPr>
              <a:t> </a:t>
            </a:r>
            <a:r>
              <a:rPr lang="es-ES" i="1" dirty="0">
                <a:latin typeface="+mn-lt"/>
              </a:rPr>
              <a:t>- </a:t>
            </a:r>
            <a:r>
              <a:rPr lang="es-ES" dirty="0">
                <a:latin typeface="+mn-lt"/>
              </a:rPr>
              <a:t> se refiere a una suposición o afirmación que se formula antes de realizar un análisis con el objetivo de ser probada o refutada utilizando los datos disponibles. Por ejemplo:</a:t>
            </a:r>
          </a:p>
          <a:p>
            <a:endParaRPr lang="es-ES" sz="1350" b="0" i="0" u="sng" strike="noStrike" cap="none" dirty="0">
              <a:solidFill>
                <a:srgbClr val="83AEFB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fontAlgn="t"/>
            <a:r>
              <a:rPr lang="es-ES" sz="1200" dirty="0">
                <a:latin typeface="+mn-lt"/>
              </a:rPr>
              <a:t>Hipótesis de correlación: "Existe una correlación significativa entre X e Y, lo que sugiere una relación causal entre ambos factores".</a:t>
            </a:r>
          </a:p>
          <a:p>
            <a:pPr fontAlgn="t"/>
            <a:endParaRPr lang="es-ES" sz="1200" dirty="0">
              <a:latin typeface="+mn-lt"/>
            </a:endParaRPr>
          </a:p>
          <a:p>
            <a:pPr fontAlgn="t"/>
            <a:r>
              <a:rPr lang="es-ES" sz="1200" dirty="0">
                <a:latin typeface="+mn-lt"/>
              </a:rPr>
              <a:t>Hipótesis de clasificación: "Un modelo de aprendizaje automático será capaz de clasificar con precisión las instancias en diferentes categorías basadas en los siguientes atributos:…".</a:t>
            </a:r>
          </a:p>
          <a:p>
            <a:pPr fontAlgn="t"/>
            <a:endParaRPr lang="es-ES" sz="1200" dirty="0">
              <a:latin typeface="+mn-lt"/>
            </a:endParaRPr>
          </a:p>
          <a:p>
            <a:pPr fontAlgn="t"/>
            <a:r>
              <a:rPr lang="es-ES" sz="1200" dirty="0">
                <a:latin typeface="+mn-lt"/>
              </a:rPr>
              <a:t>Hipótesis de regresión: "Utilizando datos históricos y técnicas de modelado, se puede desarrollar un modelo que prediga con precisión el valor futuro de la variable objetivo XYZ".</a:t>
            </a:r>
          </a:p>
          <a:p>
            <a:pPr fontAlgn="t"/>
            <a:endParaRPr lang="es-ES" sz="1200" dirty="0">
              <a:latin typeface="+mn-lt"/>
            </a:endParaRPr>
          </a:p>
          <a:p>
            <a:pPr fontAlgn="t"/>
            <a:r>
              <a:rPr lang="es-ES" sz="1200" dirty="0">
                <a:latin typeface="+mn-lt"/>
              </a:rPr>
              <a:t>Hipótesis de agrupamiento: "Los datos pueden ser agrupados en diferentes clústeres basados en similitudes en los atributos, lo que revelará patrones ocultos o segmentos distintos dentro del conjunto de datos".</a:t>
            </a:r>
          </a:p>
          <a:p>
            <a:endParaRPr sz="1350" b="0" i="0" u="sng" strike="noStrike" cap="none" dirty="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1" name="Google Shape;801;p123"/>
          <p:cNvSpPr txBox="1"/>
          <p:nvPr/>
        </p:nvSpPr>
        <p:spPr>
          <a:xfrm>
            <a:off x="501450" y="1081750"/>
            <a:ext cx="7310100" cy="641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s" sz="330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Estructurando un proyecto de DS</a:t>
            </a:r>
            <a:endParaRPr sz="33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02" name="Google Shape;802;p1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123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PRÁCTICA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4" name="Google Shape;804;p123"/>
          <p:cNvSpPr txBox="1"/>
          <p:nvPr/>
        </p:nvSpPr>
        <p:spPr>
          <a:xfrm>
            <a:off x="4527575" y="1603375"/>
            <a:ext cx="4145700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5" name="Google Shape;805;p123"/>
          <p:cNvSpPr/>
          <p:nvPr/>
        </p:nvSpPr>
        <p:spPr>
          <a:xfrm>
            <a:off x="636450" y="838675"/>
            <a:ext cx="8036700" cy="6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0957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23"/>
          <p:cNvSpPr/>
          <p:nvPr/>
        </p:nvSpPr>
        <p:spPr>
          <a:xfrm>
            <a:off x="457346" y="468198"/>
            <a:ext cx="431100" cy="431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9" name="Google Shape;799;p123" title="ícono de desafío entregab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3106" y="558677"/>
            <a:ext cx="250116" cy="250118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123"/>
          <p:cNvSpPr txBox="1"/>
          <p:nvPr/>
        </p:nvSpPr>
        <p:spPr>
          <a:xfrm>
            <a:off x="210799" y="2005100"/>
            <a:ext cx="8694661" cy="3226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42875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</a:pPr>
            <a:endParaRPr lang="es" sz="1200" b="0" i="0" u="none" strike="noStrike" cap="none" dirty="0">
              <a:solidFill>
                <a:schemeClr val="tx1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algn="just" fontAlgn="t"/>
            <a:r>
              <a:rPr lang="es-ES" sz="1200" b="1" i="1" dirty="0"/>
              <a:t>Exploración de datos (EDA)</a:t>
            </a:r>
            <a:r>
              <a:rPr lang="es-ES" sz="1200" i="1" dirty="0"/>
              <a:t>: </a:t>
            </a:r>
            <a:r>
              <a:rPr lang="es-ES" sz="1200" dirty="0"/>
              <a:t>realizar un análisis exploratorio de los datos para comprender su estructura, calidad y características. Identificar valores atípicos, patrones, correlaciones y posibles problemas en los datos.</a:t>
            </a:r>
          </a:p>
          <a:p>
            <a:pPr algn="just" fontAlgn="t"/>
            <a:endParaRPr lang="es-ES" sz="1200" dirty="0"/>
          </a:p>
          <a:p>
            <a:pPr algn="just" fontAlgn="t"/>
            <a:r>
              <a:rPr lang="es-ES" sz="1200" b="1" i="1" dirty="0" err="1"/>
              <a:t>Preprocesamiento</a:t>
            </a:r>
            <a:r>
              <a:rPr lang="es-ES" sz="1200" b="1" i="1" dirty="0"/>
              <a:t> de datos</a:t>
            </a:r>
            <a:r>
              <a:rPr lang="es-ES" sz="1200" i="1" dirty="0"/>
              <a:t>: </a:t>
            </a:r>
            <a:r>
              <a:rPr lang="es-ES" sz="1200" dirty="0"/>
              <a:t>aplicar correctas metodologías para data </a:t>
            </a:r>
            <a:r>
              <a:rPr lang="es-ES" sz="1200" dirty="0" err="1"/>
              <a:t>cleansing</a:t>
            </a:r>
            <a:r>
              <a:rPr lang="es-ES" sz="1200" dirty="0"/>
              <a:t> (manejo de valores nulos, duplicados y atípicos, estandarizar, codificar variables categóricas).</a:t>
            </a:r>
          </a:p>
          <a:p>
            <a:pPr algn="just" fontAlgn="t"/>
            <a:endParaRPr lang="es-ES" sz="1200" dirty="0"/>
          </a:p>
          <a:p>
            <a:pPr algn="just" fontAlgn="t"/>
            <a:r>
              <a:rPr lang="es-ES" sz="1200" b="1" i="1" dirty="0"/>
              <a:t>Análisis descriptivo</a:t>
            </a:r>
            <a:r>
              <a:rPr lang="es-ES" sz="1200" i="1" dirty="0"/>
              <a:t>: </a:t>
            </a:r>
            <a:r>
              <a:rPr lang="es-ES" sz="1200" dirty="0"/>
              <a:t>realizar análisis descriptivos para resumir y visualizar los datos.</a:t>
            </a:r>
          </a:p>
          <a:p>
            <a:pPr lvl="1" algn="just"/>
            <a:r>
              <a:rPr lang="es-ES" sz="1200" dirty="0"/>
              <a:t>Identificar tendencias, distribuciones, relaciones entre variables y posibles </a:t>
            </a:r>
            <a:r>
              <a:rPr lang="es-ES" sz="1200" dirty="0" err="1"/>
              <a:t>insights</a:t>
            </a:r>
            <a:r>
              <a:rPr lang="es-ES" sz="1200" dirty="0"/>
              <a:t> iniciales.</a:t>
            </a:r>
          </a:p>
          <a:p>
            <a:pPr algn="just" fontAlgn="t"/>
            <a:endParaRPr lang="es-ES" sz="1200" dirty="0"/>
          </a:p>
          <a:p>
            <a:pPr algn="just" fontAlgn="t"/>
            <a:r>
              <a:rPr lang="es-ES" sz="1200" b="1" dirty="0"/>
              <a:t>Ingeniería de características</a:t>
            </a:r>
            <a:r>
              <a:rPr lang="es-ES" sz="1200" dirty="0"/>
              <a:t>: usar </a:t>
            </a:r>
            <a:r>
              <a:rPr lang="es-AR" sz="1200" dirty="0" err="1"/>
              <a:t>feature</a:t>
            </a:r>
            <a:r>
              <a:rPr lang="es-AR" sz="1200" dirty="0"/>
              <a:t> </a:t>
            </a:r>
            <a:r>
              <a:rPr lang="es-AR" sz="1200" dirty="0" err="1"/>
              <a:t>engineering</a:t>
            </a:r>
            <a:r>
              <a:rPr lang="es-AR" sz="1200" dirty="0"/>
              <a:t> para </a:t>
            </a:r>
            <a:r>
              <a:rPr lang="es-ES" sz="1200" dirty="0"/>
              <a:t>crear nuevas características (variables) relevantes a partir de las existentes. 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  <a:buSzPts val="1350"/>
            </a:pPr>
            <a:r>
              <a:rPr lang="es-ES" sz="1200" b="1" dirty="0">
                <a:solidFill>
                  <a:schemeClr val="tx1"/>
                </a:solidFill>
                <a:ea typeface="DM Sans"/>
                <a:cs typeface="DM Sans"/>
                <a:sym typeface="DM Sans"/>
              </a:rPr>
              <a:t>Realizar conclusiones en base a los resultados obtenidos.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sng" strike="noStrike" cap="none" dirty="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02" name="Google Shape;802;p1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123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PRÁCTICA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4" name="Google Shape;804;p123"/>
          <p:cNvSpPr txBox="1"/>
          <p:nvPr/>
        </p:nvSpPr>
        <p:spPr>
          <a:xfrm>
            <a:off x="4527575" y="1603375"/>
            <a:ext cx="4145700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5" name="Google Shape;805;p123"/>
          <p:cNvSpPr/>
          <p:nvPr/>
        </p:nvSpPr>
        <p:spPr>
          <a:xfrm>
            <a:off x="636450" y="838675"/>
            <a:ext cx="8036700" cy="6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801;p123"/>
          <p:cNvSpPr txBox="1"/>
          <p:nvPr/>
        </p:nvSpPr>
        <p:spPr>
          <a:xfrm>
            <a:off x="501450" y="1081750"/>
            <a:ext cx="7310100" cy="641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s" sz="330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Estructurando un proyecto de DS</a:t>
            </a:r>
            <a:endParaRPr sz="33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590173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" name="Google Shape;449;p76"/>
          <p:cNvGrpSpPr/>
          <p:nvPr/>
        </p:nvGrpSpPr>
        <p:grpSpPr>
          <a:xfrm>
            <a:off x="457359" y="468298"/>
            <a:ext cx="431074" cy="431074"/>
            <a:chOff x="7208351" y="2467173"/>
            <a:chExt cx="738900" cy="738900"/>
          </a:xfrm>
        </p:grpSpPr>
        <p:sp>
          <p:nvSpPr>
            <p:cNvPr id="450" name="Google Shape;450;p76"/>
            <p:cNvSpPr/>
            <p:nvPr/>
          </p:nvSpPr>
          <p:spPr>
            <a:xfrm>
              <a:off x="7208351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1" name="Google Shape;451;p76" title="ícono de entrega final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352500" y="2611301"/>
              <a:ext cx="450600" cy="45062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52" name="Google Shape;452;p7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76"/>
          <p:cNvSpPr txBox="1"/>
          <p:nvPr/>
        </p:nvSpPr>
        <p:spPr>
          <a:xfrm>
            <a:off x="888431" y="180325"/>
            <a:ext cx="3744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PREENTREGA DEL PROYECTO FINAL</a:t>
            </a:r>
            <a:endParaRPr sz="140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4" name="Google Shape;454;p76"/>
          <p:cNvSpPr txBox="1"/>
          <p:nvPr/>
        </p:nvSpPr>
        <p:spPr>
          <a:xfrm>
            <a:off x="457350" y="1749900"/>
            <a:ext cx="7956900" cy="2657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Sugerencias</a:t>
            </a:r>
            <a:endParaRPr sz="1350" b="1" i="0" u="none" strike="noStrike" cap="none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Es conveniente pero no obligatorio retomar el dataset trabajado en </a:t>
            </a:r>
            <a:r>
              <a:rPr lang="es" sz="1350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el el primer curso</a:t>
            </a:r>
            <a:r>
              <a:rPr lang="es" sz="135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(e.g joins, y creación de nuevas columnas) con información proveniente de APIs públicas siempre que se pueda con el fin de practicar las nuevas habilidades adquiridas.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lang="es" sz="1350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>
              <a:buSzPts val="1350"/>
            </a:pPr>
            <a:r>
              <a:rPr lang="es" sz="135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Se recomienda seguir las buenas prácticas vistas en clase durante la parte del </a:t>
            </a:r>
            <a:r>
              <a:rPr lang="es-AR" dirty="0" err="1">
                <a:solidFill>
                  <a:schemeClr val="tx1"/>
                </a:solidFill>
              </a:rPr>
              <a:t>storytelling</a:t>
            </a:r>
            <a:r>
              <a:rPr lang="es-AR" dirty="0">
                <a:solidFill>
                  <a:schemeClr val="tx1"/>
                </a:solidFill>
              </a:rPr>
              <a:t>, inclusive puede entregar su notebook junto a una presentación ejecutiva en .</a:t>
            </a:r>
            <a:r>
              <a:rPr lang="es-AR" dirty="0" err="1">
                <a:solidFill>
                  <a:schemeClr val="tx1"/>
                </a:solidFill>
              </a:rPr>
              <a:t>pdf</a:t>
            </a:r>
            <a:r>
              <a:rPr lang="es-AR" dirty="0">
                <a:solidFill>
                  <a:schemeClr val="tx1"/>
                </a:solidFill>
              </a:rPr>
              <a:t> , .</a:t>
            </a:r>
            <a:r>
              <a:rPr lang="es-AR" dirty="0" err="1">
                <a:solidFill>
                  <a:schemeClr val="tx1"/>
                </a:solidFill>
              </a:rPr>
              <a:t>ppt</a:t>
            </a:r>
            <a:r>
              <a:rPr lang="es-AR" dirty="0">
                <a:solidFill>
                  <a:schemeClr val="tx1"/>
                </a:solidFill>
              </a:rPr>
              <a:t> o donde prefiera que pueda darle valor agregado a su trabajo.</a:t>
            </a:r>
          </a:p>
          <a:p>
            <a:pPr lvl="0">
              <a:buSzPts val="1350"/>
            </a:pPr>
            <a:endParaRPr sz="1350" b="0" i="0" u="none" strike="noStrike" cap="none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Requisito complementario pero muy recomendado:</a:t>
            </a:r>
            <a:endParaRPr sz="1350" b="1" i="0" u="none" strike="noStrike" cap="none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✓"/>
            </a:pPr>
            <a:r>
              <a:rPr lang="es" sz="135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Subir el proyecto a Github</a:t>
            </a:r>
            <a:endParaRPr sz="1350" b="0" i="0" u="none" strike="noStrike" cap="none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5" name="Google Shape;455;p76"/>
          <p:cNvSpPr/>
          <p:nvPr/>
        </p:nvSpPr>
        <p:spPr>
          <a:xfrm>
            <a:off x="636450" y="838675"/>
            <a:ext cx="8036700" cy="606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76"/>
          <p:cNvSpPr txBox="1"/>
          <p:nvPr/>
        </p:nvSpPr>
        <p:spPr>
          <a:xfrm>
            <a:off x="501450" y="1081750"/>
            <a:ext cx="8036700" cy="5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s" sz="2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Obtención de insights a partir de visualizaciones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2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¿Preguntas?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5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Opina y valora</a:t>
            </a:r>
            <a:r>
              <a:rPr lang="es" sz="4000" b="1" i="0" u="none" strike="noStrike" cap="none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000" b="1" i="0" u="none" strike="noStrike" cap="non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6"/>
          <p:cNvSpPr txBox="1"/>
          <p:nvPr/>
        </p:nvSpPr>
        <p:spPr>
          <a:xfrm>
            <a:off x="2382900" y="2171550"/>
            <a:ext cx="4378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Muchas gracias</a:t>
            </a: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4000" b="0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47" title="Hashtag &quot;democratizando la educación&quot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9675" y="2410500"/>
            <a:ext cx="5924650" cy="32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528</Words>
  <Application>Microsoft Office PowerPoint</Application>
  <PresentationFormat>Presentación en pantalla (16:9)</PresentationFormat>
  <Paragraphs>54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DM Sans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Ruiz</dc:creator>
  <cp:lastModifiedBy>Jorge Ruiz</cp:lastModifiedBy>
  <cp:revision>5</cp:revision>
  <dcterms:modified xsi:type="dcterms:W3CDTF">2025-09-15T18:18:26Z</dcterms:modified>
</cp:coreProperties>
</file>